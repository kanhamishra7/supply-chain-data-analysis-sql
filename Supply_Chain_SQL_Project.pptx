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Supply Chain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D4A017"/>
                </a:solidFill>
                <a:latin typeface="Calibri"/>
              </a:rPr>
              <a:t>A Complete Analysis Using Structured Query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8686800" cy="3657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Subject:   Database Management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Presented by:   SQL Analytics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Coverage:   Level 1 Basic  →  Level 2 Intermediate  →  Level 3 Advanced  →  Level 4 Expert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080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</a:rPr>
              <a:t>Academic Presentation  •  SQL Supply 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02920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472"/>
                </a:solidFill>
                <a:latin typeface="Calibri"/>
              </a:rPr>
              <a:t>Database schema and table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48640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02920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087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Level 1 — Basic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1168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472"/>
                </a:solidFill>
                <a:latin typeface="Calibri"/>
              </a:rPr>
              <a:t>Data exploration, demographics, filtering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71800"/>
            <a:ext cx="548640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502920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Level 2 — Intermediate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472"/>
                </a:solidFill>
                <a:latin typeface="Calibri"/>
              </a:rPr>
              <a:t>Revenue analysis, rankings, supplier insights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548640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502920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29184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0632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Level 3 — Advanced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56616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472"/>
                </a:solidFill>
                <a:latin typeface="Calibri"/>
              </a:rPr>
              <a:t>Bulk buyers, premium suppliers, city networking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26280"/>
            <a:ext cx="548640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26280"/>
            <a:ext cx="502920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177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Level 4 — Expert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472"/>
                </a:solidFill>
                <a:latin typeface="Calibri"/>
              </a:rPr>
              <a:t>Savings analysis, market research &amp; competition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526280"/>
            <a:ext cx="548640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526280"/>
            <a:ext cx="502920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463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6177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Key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12064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472"/>
                </a:solidFill>
                <a:latin typeface="Calibri"/>
              </a:rPr>
              <a:t>Summary of findings and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Overview — Database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4864" cy="1463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901952"/>
            <a:ext cx="1810512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id, firstname, lastname</a:t>
            </a:r>
          </a:p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city, country, phone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71600"/>
            <a:ext cx="20116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1828800"/>
            <a:ext cx="54864" cy="1463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1901952"/>
            <a:ext cx="1810512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id, customerid, orderdate</a:t>
            </a:r>
          </a:p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totalamount,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371600"/>
            <a:ext cx="20116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OrderItem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80" y="1828800"/>
            <a:ext cx="54864" cy="1463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1808" y="1901952"/>
            <a:ext cx="1810512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id, orderid, productid</a:t>
            </a:r>
          </a:p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quantity, unitprice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1371600"/>
            <a:ext cx="20116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1828800"/>
            <a:ext cx="54864" cy="1463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1901952"/>
            <a:ext cx="1810512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id, productname, supplierid</a:t>
            </a:r>
          </a:p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unitprice, isdiscontinued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1371600"/>
            <a:ext cx="20116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Supplier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6960" y="1828800"/>
            <a:ext cx="20116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6960" y="1828800"/>
            <a:ext cx="54864" cy="1463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76688" y="1901952"/>
            <a:ext cx="1810512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id, companyname, contactname</a:t>
            </a:r>
          </a:p>
          <a:p>
            <a:pPr algn="l"/>
            <a:r>
              <a:rPr sz="900">
                <a:solidFill>
                  <a:srgbClr val="0D3349"/>
                </a:solidFill>
                <a:latin typeface="Courier New"/>
              </a:rPr>
              <a:t>country, phone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2029968"/>
            <a:ext cx="164592" cy="14630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92040" y="2029968"/>
            <a:ext cx="164592" cy="14630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80" y="2029968"/>
            <a:ext cx="164592" cy="14630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46920" y="2029968"/>
            <a:ext cx="164592" cy="14630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520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7377"/>
                </a:solidFill>
                <a:latin typeface="Calibri"/>
              </a:rPr>
              <a:t>Relationships:  Customer  →  Orders  →  OrderItem  ←  Product  ←  Supplier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11338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▸  This project analyzes a Supply Chain database containing 5 interconnected tables.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▸  Queries are organized across 4 levels of complexity — from basic SELECT statements to expert-level CTEs and subqueries.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▸  Key goals: understand customer behavior, track orders, evaluate supplier performance, and perform revenue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LEVEL
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  <a:latin typeface="Calibri"/>
              </a:rPr>
              <a:t>Basic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  <a:latin typeface="Calibri"/>
              </a:rPr>
              <a:t>What we explore in this level: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Data Exploration — read all 5 tables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Customer Demographics by country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Active Inventory filtering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Supplier-Product catalog via JOIN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Regional customer search (Mexico)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High-value items per customer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Top supplier by product count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Order trends by month &amp; year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Supplier concentration by country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Inactive customers (no orders)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Exploration — Read All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SELECT all records from each of the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5 core tables in the database: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• supplier   • product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• orderitem  • orders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• customer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Helps understand raw data structure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and volume before any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24597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245973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2313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supplier;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product;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orderitem;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orders;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customer;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280544"/>
            <a:ext cx="3291840" cy="147648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1  •  Data Exploration — Read All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Customer Demographics — Count by Country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Count how many customers exist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in each country.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Results sorted from highest to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lowest to identify the most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dominant customer markets.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508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5087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362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country,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COUNT(id) AS count_cust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customer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country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count_cust DESC;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569504"/>
            <a:ext cx="3291840" cy="289856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2  •  Customer Demographics — Count by Country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Active Inventory — Non-Discontinued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Display all products that are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currently active (not discontinued).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Filters using the isdiscontinued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flag — only live inventory shown.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0972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product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isdiscontinued &gt;= '1';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23205"/>
            <a:ext cx="3291840" cy="119116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3  •  Active Inventory — Non-Discontinued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Supplier Catalog — Company &amp; Product Names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List every supplier's company name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alongside the products they supply.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Uses an INNER JOIN between the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Supplier and Product tables on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the supplierid foreign key.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7465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74650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s.id,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   s.companyname,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   p.productname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supplier 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product p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ON s.id = p.supplierid;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701381"/>
            <a:ext cx="3291840" cy="263481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4  •  Supplier Catalog — Company &amp; Product Names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Regional Search — Customers in Mexico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Filter customer records to show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only those residing in Mexico.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Simple WHERE clause filtering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on the country column.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0972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customer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country = 'Mexico';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281973"/>
            <a:ext cx="3291840" cy="14736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5  •  Regional Search — Customers in Mexico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High-Value Items — Most Expensive per Customer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Identify the most expensive product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ordered by each customer.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Uses a correlated subquery with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MAX(unitprice) grouped per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customer to filter top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29352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293522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c.id, p.productname,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   p.unitprice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customer 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orders o ON c.id=o.customerid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orderitem oi ON o.id=oi.orderid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product p ON p.id=oi.productid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(c.id, p.unitprice) IN 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SELECT c.id, MAX(p.unitprice)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FROM product p ...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GROUP BY c.id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070864"/>
            <a:ext cx="3291840" cy="389584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6  •  High-Value Items — Most Expensive per Customer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Top Suppliers — Highest Product 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Find which supplier provides the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greatest number of distinct products.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Uses a CTE (Common Table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Expression) with COUNT, then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selects the maximum count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3172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317296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3026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WITH max_p AS 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SELECT s.id,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COUNT(p.id) AS cnt_prod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FROM supplier 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JOIN product p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ON p.supplierid = s.id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GROUP BY s.id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max_p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cnt_prod IN 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SELECT MAX(cnt_prod) FROM max_p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111661"/>
            <a:ext cx="3291840" cy="181425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7  •  Top Suppliers — Highest Product 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Order Trends — Monthly &amp; Yearly 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Display how many orders were placed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in each month and year.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Extracts YEAR and MONTH from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orderdate field and groups results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in ascending chronological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984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9842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837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YEAR(orderdate) AS year,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MONTH(orderdate) AS month,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COUNT(id) AS order_count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orders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YEAR(orderdate),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     MONTH(orderdate)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year ASC, month ASC;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656" y="1572768"/>
            <a:ext cx="3273807" cy="48920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8  •  Order Trends — Monthly &amp; Yearly Count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Supplier Concentration — Country with Most Suppliers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Find which country has the maximum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number of suppliers.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Uses a window function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COUNT() OVER(PARTITION BY country)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inside a CTE, then filters to max.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2697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2697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2551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WITH max_c AS 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SELECT country,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COUNT(id) OVER(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PARTITION BY country) AS count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FROM supplier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DISTINCT * FROM max_c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count IN 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SELECT MAX(count) FROM max_c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158077"/>
            <a:ext cx="3291840" cy="17214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9  •  Supplier Concentration — Country with Most Suppliers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Inactive Customers — Never Placed an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Identify all customers who have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never placed a single order.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Uses NOT IN with a subquery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on the orders table to find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customers absent from order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508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5087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362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customer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id NOT IN 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SELECT customerid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FROM orders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348801"/>
            <a:ext cx="3291840" cy="13399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10  •  Inactive Customers — Never Placed an Order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LEVEL
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  <a:latin typeface="Calibri"/>
              </a:rPr>
              <a:t>Intermediate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  <a:latin typeface="Calibri"/>
              </a:rPr>
              <a:t>What we explore in this level: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Product Demand — rank by total quantity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Annual Performance — orders per year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Revenue Analysis — total revenue by year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Top Spender — highest spending customer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Customer Ranking — by total order amount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Order History — per customer order dates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Supplier Revenue — top 3 suppliers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Customer Loyalty — latest order dates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Order Details — order + product + supplier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Product Demand — Rank by Total Quantity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Rank products by total quantity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ordered across all customer orders.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Joins OrderItem with Product,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sums quantities, and sorts from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most to least demanded.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984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9842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837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p.id AS product_id,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p.productname,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SUM(oi.quantity) AS total_qty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orderitem oi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product p ON p.id=oi.productid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p.id, p.productname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total_qty DESC;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901073"/>
            <a:ext cx="3291840" cy="42354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1  •  Product Demand — Rank by Total Quantity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Annual Performance — Orders Delivered Per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Count the total number of orders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delivered in each calendar year.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Uses YEAR() function to extract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year from orderdate and groups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the count accordingly.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2710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27101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YEAR(orderdate) AS year,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COUNT(id) AS total_orders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orders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YEAR(orderdate);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007842"/>
            <a:ext cx="3291840" cy="202189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2  •  Annual Performance — Orders Delivered Per Year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Revenue Analysis — Total Revenue Each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Calculate total revenue generated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in each year.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Sums the totalamount column from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the orders table, grouped by year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for trend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2710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27101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YEAR(orderdate) AS year,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SUM(totalamount) AS total_revenue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orders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YEAR(orderdate);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098416"/>
            <a:ext cx="3291840" cy="184074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3  •  Revenue Analysis — Total Revenue Each Year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Top Spender — Customer with Highest Total Spend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Find the single customer who has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spent the most money overall.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Joins Customer with Orders, sums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totalamount, orders descending,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and returns top 1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984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9842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837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c.*,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SUM(totalamount) AS total_amt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customer 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orders o ON o.customerid=c.id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c.id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SUM(totalamount) DESC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LIMIT 1;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689009"/>
            <a:ext cx="3291840" cy="65955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4  •  Top Spender — Customer with Highest Total Spend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Customer Ranking — All Customers by Spend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List every customer along with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their total order amount.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Same as Top Spender but returns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ALL customers ranked from highest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to lowest spender.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7465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74650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c.*,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SUM(totalamount) AS total_amt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customer 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orders o ON o.customerid=c.id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c.id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SUM(totalamount) DESC;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842292"/>
            <a:ext cx="3291840" cy="235299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5  •  Customer Ranking — All Customers by Spend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Order History — Per Customer Order 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List each customer's order dates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in chronological order.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Useful for analyzing purchase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frequency and customer buying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patterns over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7465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74650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c.id AS customerid,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c.firstname,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o.orderdate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customer 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orders o ON o.customerid=c.id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customerid, orderdate;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961387"/>
            <a:ext cx="3291840" cy="41148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6  •  Order History — Per Customer Order Dates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Supplier Revenue — Top 3 by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Identify the top 3 suppliers based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on total revenue generated.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Joins 4 tables, multiplies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quantity × unit price per item,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and ranks suppliers accordingly.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24597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245973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2313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s.id, s.contactname,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SUM(quantity * oi.unitprice)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   AS totalrevenue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supplier 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product p ON s.id=p.supplierid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orderitem oi ON oi.productid=p.id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orders o ON o.id=oi.orderid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s.id, s.contactname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totalrevenue DESC LIMIT 3;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396618"/>
            <a:ext cx="3291840" cy="124433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7  •  Supplier Revenue — Top 3 by Revenue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Customer Loyalty — Latest Order Date per Customer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Show the most recent order date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for every customer.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Uses MAX(orderdate) grouped by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customer to find when each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customer last made a purchase.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508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5087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362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c.*,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MAX(orderdate) AS latest_order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customer 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orders o ON o.CustomerId=c.id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c.id;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890814"/>
            <a:ext cx="3291840" cy="225594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8  •  Customer Loyalty — Latest Order Date per Customer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Order Details — Order + Product + Supplier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For every order, show the Order ID,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Product Name, and Supplier Name.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Joins 4 tables to create a full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order detail view connecting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orders back to their suppliers.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984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9842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837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oi.orderid,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p.productname,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s.contactname AS suppliername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supplier 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product p ON p.supplierid=s.id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orderitem oi ON oi.productid=p.id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orders o ON o.id=oi.orderid;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827935"/>
            <a:ext cx="3291840" cy="438170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9  •  Order Details — Order + Product + Supplier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2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LEVEL
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  <a:latin typeface="Calibri"/>
              </a:rPr>
              <a:t>Advanced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  <a:latin typeface="Calibri"/>
              </a:rPr>
              <a:t>What we explore in this level: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Bulk Buyers — customers with 10+ orders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Small Orders — quantity of exactly 1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Premium Suppliers — unit price above 100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City-Based Networking — same city &amp; country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2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Bulk Buyers — Customers with 10+ Orders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Find customers who have placed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more than 10 orders total.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Uses a CTE with COUNT() window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function partitioned by customer,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then filters for count &gt; 10.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2697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2697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2551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WITH product_ordered AS 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SELECT DISTINCT c.*,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COUNT(o.id) OVER(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  PARTITION BY c.id) AS count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FROM customer c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JOIN orders o ON o.customerid=c.id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* FROM product_ordered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count &gt; 10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count DESC;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726757"/>
            <a:ext cx="3291840" cy="258406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1  •  Bulk Buyers — Customers with 10+ Orders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2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Small Orders — Items Ordered with Quantity =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List all product details for items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that were ordered in a quantity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of exactly 1.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Simple JOIN between Product and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OrderItem, filtering where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quantity equals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508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5087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362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p.*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product p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orderitem oi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ON oi.productid = p.id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quantity = 1;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001257"/>
            <a:ext cx="3291840" cy="20350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2  •  Small Orders — Items Ordered with Quantity =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2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Premium Suppliers — Unit Price Above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Identify suppliers whose products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were sold at a unit price above 100.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Joins Supplier, Product, and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OrderItem. Uses DISTINCT to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avoid duplicate supplier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7465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74650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DISTINCT s.*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supplier 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product p ON p.SupplierId=s.id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orderitem oi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ON oi.productid = p.id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oi.unitprice &gt; 100;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761474"/>
            <a:ext cx="3291840" cy="51462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3  •  Premium Suppliers — Unit Price Above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2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City-Based Networking — Same City &amp; Country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Find pairs of customers who live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in the same city and country.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Self-join on the customer table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using (city, country) as the join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key. WHERE prevents self-matching.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2697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2697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2551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DISTINCT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c1.id, c1.firstname,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c2.FirstName, c1.city,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c1.country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customer c1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customer c2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ON (c1.city, c1.country)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= (c2.city, c2.country)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WHERE c1.id &lt;&gt; c2.id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c1.country;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193061"/>
            <a:ext cx="3291840" cy="365145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4  •  City-Based Networking — Same City &amp; Country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B3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LEVEL
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  <a:latin typeface="Calibri"/>
              </a:rPr>
              <a:t>Expert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  <a:latin typeface="Calibri"/>
              </a:rPr>
              <a:t>What we explore in this level: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Savings Analysis — discount savings per order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Market Research Part A — high-demand products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✦  Market Research Part B — competitor mapping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B3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Savings Analysis — Discount Savings per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Calculate how much was saved per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order due to discounts.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Formula: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(Product Price − Sold Price) × Qty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summed per order.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Results ranked by highest savings.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24597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245973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2313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oi.orderid,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SUM(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(p.unitprice - oi.unitprice)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  * oi.quantity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) AS total_amount_saved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product p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orderitem oi ON p.id=oi.productid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oi.orderid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total_amount_saved DESC;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238" y="1572768"/>
            <a:ext cx="2590643" cy="48920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1  •  Savings Analysis — Discount Savings per Order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B3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Q2a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Market Research — High-Demand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Help new supplier Mr. Kavin by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identifying the most demanded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products in the market.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Ranks all products by total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quantity ordered.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Useful for supply planning.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1984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19842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1837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-- Part A: High-demand products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p.productname,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SUM(oi.quantity) AS total_demand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product p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orderitem oi ON p.id=oi.productid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GROUP BY p.productname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ORDER BY total_demand DESC;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660266"/>
            <a:ext cx="3291840" cy="471704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2a  •  Market Research — High-Demand Products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B3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Q2b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Market Research — Competitor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16052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Identify who Mr. Kavin's competitors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would be for each product.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Lists all existing suppliers and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the products they currently supply.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Gives a full competitive landscape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for strategic planning.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3657600" cy="22219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222199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456432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-- Part B: Competitor mapping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SELECT DISTINCT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s.contactname,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p.productname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FROM orderitem oi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product p ON p.id=oi.productid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JOIN supplier s</a:t>
            </a:r>
          </a:p>
          <a:p>
            <a:pPr algn="l"/>
            <a:r>
              <a:rPr sz="950">
                <a:solidFill>
                  <a:srgbClr val="0D3349"/>
                </a:solidFill>
                <a:latin typeface="Courier New"/>
              </a:rPr>
              <a:t>  ON p.supplierid = s.id;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Query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08760"/>
            <a:ext cx="34290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137049"/>
            <a:ext cx="3291840" cy="376347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Supply Chain SQL Project  •  Query 2b  •  Market Research — Competitor Mapping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Insights &amp;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394960" cy="1325880"/>
          </a:xfrm>
          <a:prstGeom prst="rect">
            <a:avLst/>
          </a:prstGeom>
          <a:solidFill>
            <a:srgbClr val="2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73152" cy="132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0700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Customer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Identified customers by country, active regions, and spending patterns. Mexico leads in customer 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097280"/>
            <a:ext cx="5394960" cy="1325880"/>
          </a:xfrm>
          <a:prstGeom prst="rect">
            <a:avLst/>
          </a:prstGeom>
          <a:solidFill>
            <a:srgbClr val="2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097280"/>
            <a:ext cx="73152" cy="132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20700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Order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Monthly/yearly order tracking reveals seasonality. Annual revenue computed for business reporting.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51760"/>
            <a:ext cx="5394960" cy="1325880"/>
          </a:xfrm>
          <a:prstGeom prst="rect">
            <a:avLst/>
          </a:prstGeom>
          <a:solidFill>
            <a:srgbClr val="2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51760"/>
            <a:ext cx="73152" cy="132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614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Supplier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Top 3 suppliers by revenue identified. Country-wise supplier concentration mapped for strategy.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651760"/>
            <a:ext cx="5394960" cy="1325880"/>
          </a:xfrm>
          <a:prstGeom prst="rect">
            <a:avLst/>
          </a:prstGeom>
          <a:solidFill>
            <a:srgbClr val="2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651760"/>
            <a:ext cx="73152" cy="132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7614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Product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High-demand products ranked by total quantity. Discontinued vs active inventory clearly separated.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06240"/>
            <a:ext cx="5394960" cy="1325880"/>
          </a:xfrm>
          <a:prstGeom prst="rect">
            <a:avLst/>
          </a:prstGeom>
          <a:solidFill>
            <a:srgbClr val="2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73152" cy="132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159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Advanced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548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CTEs and window functions used for savings analysis, bulk buyer identification, and competitor mapping.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206240"/>
            <a:ext cx="5394960" cy="1325880"/>
          </a:xfrm>
          <a:prstGeom prst="rect">
            <a:avLst/>
          </a:prstGeom>
          <a:solidFill>
            <a:srgbClr val="2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4206240"/>
            <a:ext cx="73152" cy="132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3159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Expert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7548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Mr. Kavin market research: identified high-demand products and existing supplier competition landscape.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533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23 Queries  •  4 Complexity Levels  •  5 Database Tables  •  Full Supply Chain Coverage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29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4A017"/>
                </a:solidFill>
                <a:latin typeface="Calibri"/>
              </a:rPr>
              <a:t>Supply Chain SQL Project — Complete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83280"/>
            <a:ext cx="5943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Queries Covered: Basic  •  Intermediate  •  Advanced  • 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Tools: SQL  •  JOINs  •  CTEs  •  Window Functions  •  Subqueries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Open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